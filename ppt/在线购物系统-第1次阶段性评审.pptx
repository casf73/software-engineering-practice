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4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4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7153982-6576-445A-9709-286C24C2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6B0E434-E032-4891-BFE4-BCB8E659B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C10728C-CBBB-4EF9-92DD-A01E7089D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9A3AC85-CFDE-4006-8553-DD6D651E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A806105-51D5-49DC-8538-7768D2700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1292F9F-3227-4BFE-9694-7E79822D0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D24B2F2-4FC1-4772-9C83-45380ECCA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D18F1A8-F1A8-4BD5-A32F-77A1AB04A7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5A8AE45-B4A7-4993-9680-BF80839AC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991D87B-673B-4A4B-93D2-971E619998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202205-4269-4A20-97AF-A94B37784B0F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666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3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第 1 次阶段性评审</a:t>
            </a:r>
          </a:p>
        </p:txBody>
      </p:sp>
      <p:sp>
        <p:nvSpPr>
          <p:cNvPr id="2" name="直接连接符 1">
            <a:extLst>
              <a:ext uri="{FF2B5EF4-FFF2-40B4-BE49-F238E27FC236}">
                <a16:creationId xmlns:a16="http://schemas.microsoft.com/office/drawing/2014/main" id="{B5871BF9-8118-4A7D-B0C1-E45BF02C0A7A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0"/>
          </a:xfrm>
          <a:prstGeom prst="line">
            <a:avLst/>
          </a:prstGeom>
          <a:noFill/>
          <a:ln w="19050">
            <a:solidFill>
              <a:srgbClr val="637B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9D66DB-9457-4A45-BB6D-43200FE3E57C}"/>
              </a:ext>
            </a:extLst>
          </p:cNvPr>
          <p:cNvSpPr>
            <a:spLocks noGrp="1"/>
          </p:cNvSpPr>
          <p:nvPr/>
        </p:nvSpPr>
        <p:spPr>
          <a:xfrm>
            <a:off x="685800" y="1520599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小组成员</a:t>
            </a:r>
            <a:endParaRPr sz="1500" b="1" dirty="0">
              <a:solidFill>
                <a:srgbClr val="6871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78FE8D6C-9A4E-481D-924A-63A08BA79B53}"/>
              </a:ext>
            </a:extLst>
          </p:cNvPr>
          <p:cNvSpPr>
            <a:spLocks noGrp="1"/>
          </p:cNvSpPr>
          <p:nvPr/>
        </p:nvSpPr>
        <p:spPr>
          <a:xfrm>
            <a:off x="1857375" y="1802946"/>
            <a:ext cx="8715375" cy="0"/>
          </a:xfrm>
          <a:prstGeom prst="line">
            <a:avLst/>
          </a:prstGeom>
          <a:noFill/>
          <a:ln w="14288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983315-D086-4109-84EC-0F321AFA949E}"/>
              </a:ext>
            </a:extLst>
          </p:cNvPr>
          <p:cNvSpPr>
            <a:spLocks noGrp="1"/>
          </p:cNvSpPr>
          <p:nvPr/>
        </p:nvSpPr>
        <p:spPr>
          <a:xfrm>
            <a:off x="685800" y="2346552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日期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A9F34436-F921-4801-8254-0C3357A864C1}"/>
              </a:ext>
            </a:extLst>
          </p:cNvPr>
          <p:cNvSpPr>
            <a:spLocks noGrp="1"/>
          </p:cNvSpPr>
          <p:nvPr/>
        </p:nvSpPr>
        <p:spPr>
          <a:xfrm>
            <a:off x="1857375" y="2716666"/>
            <a:ext cx="3762375" cy="0"/>
          </a:xfrm>
          <a:prstGeom prst="line">
            <a:avLst/>
          </a:prstGeom>
          <a:noFill/>
          <a:ln w="14288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29C73C7-7032-4AF0-AC3C-7215473C9C8B}"/>
              </a:ext>
            </a:extLst>
          </p:cNvPr>
          <p:cNvSpPr>
            <a:spLocks noGrp="1"/>
          </p:cNvSpPr>
          <p:nvPr/>
        </p:nvSpPr>
        <p:spPr>
          <a:xfrm>
            <a:off x="10572750" y="6334125"/>
            <a:ext cx="933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01 / 08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87DE5DF-013F-47F6-C592-712E6CB84620}"/>
              </a:ext>
            </a:extLst>
          </p:cNvPr>
          <p:cNvSpPr txBox="1"/>
          <p:nvPr/>
        </p:nvSpPr>
        <p:spPr>
          <a:xfrm>
            <a:off x="1857375" y="1461407"/>
            <a:ext cx="8715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刘云炎 林天宏</a:t>
            </a:r>
            <a:r>
              <a:rPr lang="en-US" altLang="zh-CN" dirty="0"/>
              <a:t> </a:t>
            </a:r>
            <a:r>
              <a:rPr lang="zh-CN" altLang="en-US" dirty="0"/>
              <a:t>杨熠 沈姚杰 麻津午   章曦闵 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42B950-AF5A-9017-5D97-640FAA8DA254}"/>
              </a:ext>
            </a:extLst>
          </p:cNvPr>
          <p:cNvSpPr txBox="1"/>
          <p:nvPr/>
        </p:nvSpPr>
        <p:spPr>
          <a:xfrm>
            <a:off x="1706336" y="2346552"/>
            <a:ext cx="3762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2026.10.8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92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37A3FD-0BA0-4C29-B38F-43C364CCE18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需求规格：单卖家排队购物</a:t>
            </a:r>
            <a:endParaRPr sz="2400" b="1" dirty="0">
              <a:solidFill>
                <a:srgbClr val="2732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51A59563-14DA-45A3-9E84-18E0507B305F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0"/>
          </a:xfrm>
          <a:prstGeom prst="line">
            <a:avLst/>
          </a:prstGeom>
          <a:noFill/>
          <a:ln w="19050">
            <a:solidFill>
              <a:srgbClr val="637B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74AD395-C5B8-4277-B6D5-E3EC5D65A7E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在线购物系统 · 第 1 次阶段性评审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25729EA-23AA-4232-A559-03B008D13B51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5FB98794-F13A-4F65-B7B4-348CE1808674}"/>
              </a:ext>
            </a:extLst>
          </p:cNvPr>
          <p:cNvSpPr>
            <a:spLocks noGrp="1"/>
          </p:cNvSpPr>
          <p:nvPr/>
        </p:nvSpPr>
        <p:spPr>
          <a:xfrm>
            <a:off x="457200" y="1367518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202ECA-C49F-4B43-9D73-CA066C72F221}"/>
              </a:ext>
            </a:extLst>
          </p:cNvPr>
          <p:cNvSpPr>
            <a:spLocks noGrp="1"/>
          </p:cNvSpPr>
          <p:nvPr/>
        </p:nvSpPr>
        <p:spPr>
          <a:xfrm>
            <a:off x="685800" y="1291318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买家与队列</a:t>
            </a:r>
            <a:endParaRPr sz="1875" b="1" dirty="0">
              <a:solidFill>
                <a:srgbClr val="2732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51B275A-323A-4D5F-9B1D-5CC6703665D7}"/>
              </a:ext>
            </a:extLst>
          </p:cNvPr>
          <p:cNvSpPr>
            <a:spLocks noGrp="1"/>
          </p:cNvSpPr>
          <p:nvPr/>
        </p:nvSpPr>
        <p:spPr>
          <a:xfrm>
            <a:off x="704850" y="1891393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1A0CBBB-2917-488A-83FA-47540B5F8486}"/>
              </a:ext>
            </a:extLst>
          </p:cNvPr>
          <p:cNvSpPr>
            <a:spLocks noGrp="1"/>
          </p:cNvSpPr>
          <p:nvPr/>
        </p:nvSpPr>
        <p:spPr>
          <a:xfrm>
            <a:off x="971550" y="1872343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买家免注册浏览商品，填写姓名、电话提交意向，获得唯一口令码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FC2E4F-31A0-45A9-A8D2-061F01C44DB2}"/>
              </a:ext>
            </a:extLst>
          </p:cNvPr>
          <p:cNvSpPr>
            <a:spLocks noGrp="1"/>
          </p:cNvSpPr>
          <p:nvPr/>
        </p:nvSpPr>
        <p:spPr>
          <a:xfrm>
            <a:off x="704850" y="2539093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84EEBC4-F665-43B9-9B9F-6FAEE5D19220}"/>
              </a:ext>
            </a:extLst>
          </p:cNvPr>
          <p:cNvSpPr>
            <a:spLocks noGrp="1"/>
          </p:cNvSpPr>
          <p:nvPr/>
        </p:nvSpPr>
        <p:spPr>
          <a:xfrm>
            <a:off x="971550" y="2520043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凭口令码查询状态与排位；未进入交易的买家可以撤销意向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947420-B8E1-43B5-AD44-DAA54681F79F}"/>
              </a:ext>
            </a:extLst>
          </p:cNvPr>
          <p:cNvSpPr>
            <a:spLocks noGrp="1"/>
          </p:cNvSpPr>
          <p:nvPr/>
        </p:nvSpPr>
        <p:spPr>
          <a:xfrm>
            <a:off x="704850" y="3186793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FA1956-55D4-4D13-B886-EAF64143D236}"/>
              </a:ext>
            </a:extLst>
          </p:cNvPr>
          <p:cNvSpPr>
            <a:spLocks noGrp="1"/>
          </p:cNvSpPr>
          <p:nvPr/>
        </p:nvSpPr>
        <p:spPr>
          <a:xfrm>
            <a:off x="971550" y="3167743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队列仅由系统按规则推进；重新排队保留原意向和原口令码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ABC68BF3-FA82-4744-8A02-61FB66ADE179}"/>
              </a:ext>
            </a:extLst>
          </p:cNvPr>
          <p:cNvSpPr>
            <a:spLocks noGrp="1"/>
          </p:cNvSpPr>
          <p:nvPr/>
        </p:nvSpPr>
        <p:spPr>
          <a:xfrm>
            <a:off x="5924550" y="1367518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9E42E28-5560-4CAD-96C5-BA4EC1B6590C}"/>
              </a:ext>
            </a:extLst>
          </p:cNvPr>
          <p:cNvSpPr>
            <a:spLocks noGrp="1"/>
          </p:cNvSpPr>
          <p:nvPr/>
        </p:nvSpPr>
        <p:spPr>
          <a:xfrm>
            <a:off x="6153150" y="1291318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交易与后续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A281345-FD9D-4896-87B3-B07672BAE8A6}"/>
              </a:ext>
            </a:extLst>
          </p:cNvPr>
          <p:cNvSpPr>
            <a:spLocks noGrp="1"/>
          </p:cNvSpPr>
          <p:nvPr/>
        </p:nvSpPr>
        <p:spPr>
          <a:xfrm>
            <a:off x="6172200" y="1891393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28BFB1-B0F8-4BA1-BCF8-07B303C7A494}"/>
              </a:ext>
            </a:extLst>
          </p:cNvPr>
          <p:cNvSpPr>
            <a:spLocks noGrp="1"/>
          </p:cNvSpPr>
          <p:nvPr/>
        </p:nvSpPr>
        <p:spPr>
          <a:xfrm>
            <a:off x="6438900" y="1872343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卖家发起交易时系统选取队首；交易中商品冻结并停止接收新意向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ADF073D-53DA-45E4-A0B0-07EA6D90AEFF}"/>
              </a:ext>
            </a:extLst>
          </p:cNvPr>
          <p:cNvSpPr>
            <a:spLocks noGrp="1"/>
          </p:cNvSpPr>
          <p:nvPr/>
        </p:nvSpPr>
        <p:spPr>
          <a:xfrm>
            <a:off x="6172200" y="2539093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FF085F4-4E23-4CF0-9FE2-5FAE7DCAF08D}"/>
              </a:ext>
            </a:extLst>
          </p:cNvPr>
          <p:cNvSpPr>
            <a:spLocks noGrp="1"/>
          </p:cNvSpPr>
          <p:nvPr/>
        </p:nvSpPr>
        <p:spPr>
          <a:xfrm>
            <a:off x="6438900" y="2520043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成功后商品下架，其余意向失败且口令失效；失败后选择作废或重排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E9553FE-D781-41AA-84D5-1CC68D51DCEE}"/>
              </a:ext>
            </a:extLst>
          </p:cNvPr>
          <p:cNvSpPr>
            <a:spLocks noGrp="1"/>
          </p:cNvSpPr>
          <p:nvPr/>
        </p:nvSpPr>
        <p:spPr>
          <a:xfrm>
            <a:off x="6172200" y="3186793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6A7E1F-E39F-4DE7-B478-69D2FC7082D7}"/>
              </a:ext>
            </a:extLst>
          </p:cNvPr>
          <p:cNvSpPr>
            <a:spLocks noGrp="1"/>
          </p:cNvSpPr>
          <p:nvPr/>
        </p:nvSpPr>
        <p:spPr>
          <a:xfrm>
            <a:off x="6438900" y="3167743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完整需求还包括联系信息修改、手动冻结、历史记录与商品视频等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32D6671A-9D9A-280D-8A7C-0B729596D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91618"/>
            <a:ext cx="7644544" cy="319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04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55AFE8B-35AA-4A24-8DC9-ED467911AFE1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产品经理 · T1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086526-7576-421C-B3F1-565823B3F70B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麻津午：需求澄清与迭代规划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18C5BAE-B587-4AB8-A28A-46A79F1B27DE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0"/>
          </a:xfrm>
          <a:prstGeom prst="line">
            <a:avLst/>
          </a:prstGeom>
          <a:noFill/>
          <a:ln w="19050">
            <a:solidFill>
              <a:srgbClr val="637B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259B82-0088-492F-9ED0-2A823CB0599F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在线购物系统 · 第 1 次阶段性评审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4C68B6-AF89-4F0C-9E3F-A027126A0F15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03 / 08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B588112C-8C1E-423E-9990-9325C6EE594E}"/>
              </a:ext>
            </a:extLst>
          </p:cNvPr>
          <p:cNvSpPr>
            <a:spLocks noGrp="1"/>
          </p:cNvSpPr>
          <p:nvPr/>
        </p:nvSpPr>
        <p:spPr>
          <a:xfrm>
            <a:off x="457200" y="1400175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93BB9E-BCAA-41FB-80D1-C212CD3F3338}"/>
              </a:ext>
            </a:extLst>
          </p:cNvPr>
          <p:cNvSpPr>
            <a:spLocks noGrp="1"/>
          </p:cNvSpPr>
          <p:nvPr/>
        </p:nvSpPr>
        <p:spPr>
          <a:xfrm>
            <a:off x="685800" y="1323975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需求如何落地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21C76F6-611E-4099-BCB5-395F225BEB7B}"/>
              </a:ext>
            </a:extLst>
          </p:cNvPr>
          <p:cNvSpPr>
            <a:spLocks noGrp="1"/>
          </p:cNvSpPr>
          <p:nvPr/>
        </p:nvSpPr>
        <p:spPr>
          <a:xfrm>
            <a:off x="704850" y="192405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DF63F6-5132-4FF6-9461-28089B1522B8}"/>
              </a:ext>
            </a:extLst>
          </p:cNvPr>
          <p:cNvSpPr>
            <a:spLocks noGrp="1"/>
          </p:cNvSpPr>
          <p:nvPr/>
        </p:nvSpPr>
        <p:spPr>
          <a:xfrm>
            <a:off x="971550" y="19050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梳理单卖家、先到先得、冻结时机、失败处理等关键业务规则。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3248C7-787A-48BA-9F76-2195046D254D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EBAC41-D794-4637-9066-9AC778364B64}"/>
              </a:ext>
            </a:extLst>
          </p:cNvPr>
          <p:cNvSpPr>
            <a:spLocks noGrp="1"/>
          </p:cNvSpPr>
          <p:nvPr/>
        </p:nvSpPr>
        <p:spPr>
          <a:xfrm>
            <a:off x="971550" y="25527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区分完整项目需求与首次验收的基础功能，明确边界和验收口径。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E93CC0-BD66-425A-A72D-492D9029DB8A}"/>
              </a:ext>
            </a:extLst>
          </p:cNvPr>
          <p:cNvSpPr>
            <a:spLocks noGrp="1"/>
          </p:cNvSpPr>
          <p:nvPr/>
        </p:nvSpPr>
        <p:spPr>
          <a:xfrm>
            <a:off x="704850" y="321945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0A06F71-2DBC-4F2F-B085-667F255B80F7}"/>
              </a:ext>
            </a:extLst>
          </p:cNvPr>
          <p:cNvSpPr>
            <a:spLocks noGrp="1"/>
          </p:cNvSpPr>
          <p:nvPr/>
        </p:nvSpPr>
        <p:spPr>
          <a:xfrm>
            <a:off x="971550" y="32004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参与形成需求规格说明书与首轮验收基础需求文档。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6072B96A-AD7E-421D-B7A3-7B60677A1880}"/>
              </a:ext>
            </a:extLst>
          </p:cNvPr>
          <p:cNvSpPr>
            <a:spLocks noGrp="1"/>
          </p:cNvSpPr>
          <p:nvPr/>
        </p:nvSpPr>
        <p:spPr>
          <a:xfrm>
            <a:off x="5924550" y="1400175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7812F13-5F72-49BE-9EF7-92ADCEC5734D}"/>
              </a:ext>
            </a:extLst>
          </p:cNvPr>
          <p:cNvSpPr>
            <a:spLocks noGrp="1"/>
          </p:cNvSpPr>
          <p:nvPr/>
        </p:nvSpPr>
        <p:spPr>
          <a:xfrm>
            <a:off x="6153150" y="1323975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计划与成果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C3A794-2CDE-4818-8CB4-CF216295F54B}"/>
              </a:ext>
            </a:extLst>
          </p:cNvPr>
          <p:cNvSpPr>
            <a:spLocks noGrp="1"/>
          </p:cNvSpPr>
          <p:nvPr/>
        </p:nvSpPr>
        <p:spPr>
          <a:xfrm>
            <a:off x="6172200" y="192405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3D9B66B-A8B5-42B3-8606-093027369A27}"/>
              </a:ext>
            </a:extLst>
          </p:cNvPr>
          <p:cNvSpPr>
            <a:spLocks noGrp="1"/>
          </p:cNvSpPr>
          <p:nvPr/>
        </p:nvSpPr>
        <p:spPr>
          <a:xfrm>
            <a:off x="6438900" y="19050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将需求分解为买家、卖家、商品、队列、交易及测试等工作。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FCB6BEF-EE4F-4A18-B63C-D861E01A57EC}"/>
              </a:ext>
            </a:extLst>
          </p:cNvPr>
          <p:cNvSpPr>
            <a:spLocks noGrp="1"/>
          </p:cNvSpPr>
          <p:nvPr/>
        </p:nvSpPr>
        <p:spPr>
          <a:xfrm>
            <a:off x="6172200" y="257175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CA89E01-389F-4CEE-BA42-26D70BF63A99}"/>
              </a:ext>
            </a:extLst>
          </p:cNvPr>
          <p:cNvSpPr>
            <a:spLocks noGrp="1"/>
          </p:cNvSpPr>
          <p:nvPr/>
        </p:nvSpPr>
        <p:spPr>
          <a:xfrm>
            <a:off x="6438900" y="25527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制定七次迭代的总体计划，并整理首轮阶段性评审材料。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B3EBFD3-95DE-4775-A791-EB727BBAFE3F}"/>
              </a:ext>
            </a:extLst>
          </p:cNvPr>
          <p:cNvSpPr>
            <a:spLocks noGrp="1"/>
          </p:cNvSpPr>
          <p:nvPr/>
        </p:nvSpPr>
        <p:spPr>
          <a:xfrm>
            <a:off x="6172200" y="321945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C37E5EF-E1F7-4ED5-8309-EF6D9A49E82B}"/>
              </a:ext>
            </a:extLst>
          </p:cNvPr>
          <p:cNvSpPr>
            <a:spLocks noGrp="1"/>
          </p:cNvSpPr>
          <p:nvPr/>
        </p:nvSpPr>
        <p:spPr>
          <a:xfrm>
            <a:off x="6438900" y="320040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成果可在 requirement 目录和项目 Wiki 中核对。</a:t>
            </a:r>
          </a:p>
        </p:txBody>
      </p:sp>
    </p:spTree>
    <p:extLst>
      <p:ext uri="{BB962C8B-B14F-4D97-AF65-F5344CB8AC3E}">
        <p14:creationId xmlns:p14="http://schemas.microsoft.com/office/powerpoint/2010/main" val="2103325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D0DD2533-0374-4AEF-B9C9-D09D32396B9D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前端开发 · T2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B67630-D415-448B-B70C-746BC4B154E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林天宏：买家端页面与交互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2A1AF91-D56E-402E-AA7E-CE1F7CB54D82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0"/>
          </a:xfrm>
          <a:prstGeom prst="line">
            <a:avLst/>
          </a:prstGeom>
          <a:noFill/>
          <a:ln w="19050">
            <a:solidFill>
              <a:srgbClr val="637B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E89A7F-95FF-48A3-B3E3-D20A25BA1785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在线购物系统 · 第 1 次阶段性评审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6B33AD-4005-4E83-AD14-E5B6146F52D5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F5935A27-2D00-4BF6-AE72-30636E6BFA47}"/>
              </a:ext>
            </a:extLst>
          </p:cNvPr>
          <p:cNvSpPr>
            <a:spLocks noGrp="1"/>
          </p:cNvSpPr>
          <p:nvPr/>
        </p:nvSpPr>
        <p:spPr>
          <a:xfrm>
            <a:off x="457200" y="1473654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91A4FC-7BE7-4F6D-AF5E-AF2A7A1672E3}"/>
              </a:ext>
            </a:extLst>
          </p:cNvPr>
          <p:cNvSpPr>
            <a:spLocks noGrp="1"/>
          </p:cNvSpPr>
          <p:nvPr/>
        </p:nvSpPr>
        <p:spPr>
          <a:xfrm>
            <a:off x="685800" y="1397454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买家操作路径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E8AFE1-B6EF-4E92-9C66-02C9E45B1B24}"/>
              </a:ext>
            </a:extLst>
          </p:cNvPr>
          <p:cNvSpPr>
            <a:spLocks noGrp="1"/>
          </p:cNvSpPr>
          <p:nvPr/>
        </p:nvSpPr>
        <p:spPr>
          <a:xfrm>
            <a:off x="704850" y="1997529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6B5B329-0C6D-4CDF-A553-E07E7B7B72FC}"/>
              </a:ext>
            </a:extLst>
          </p:cNvPr>
          <p:cNvSpPr>
            <a:spLocks noGrp="1"/>
          </p:cNvSpPr>
          <p:nvPr/>
        </p:nvSpPr>
        <p:spPr>
          <a:xfrm>
            <a:off x="971550" y="1978479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展示商品名称、价格、描述和图片，并处理无商品、交易中状态。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B4746C-D2ED-450F-AC64-DBFFA3EFCF57}"/>
              </a:ext>
            </a:extLst>
          </p:cNvPr>
          <p:cNvSpPr>
            <a:spLocks noGrp="1"/>
          </p:cNvSpPr>
          <p:nvPr/>
        </p:nvSpPr>
        <p:spPr>
          <a:xfrm>
            <a:off x="704850" y="2645229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D35B5B-BA23-4FB2-A104-F728F67DD2E0}"/>
              </a:ext>
            </a:extLst>
          </p:cNvPr>
          <p:cNvSpPr>
            <a:spLocks noGrp="1"/>
          </p:cNvSpPr>
          <p:nvPr/>
        </p:nvSpPr>
        <p:spPr>
          <a:xfrm>
            <a:off x="971550" y="2626179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用 Element Plus </a:t>
            </a: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表单提交姓名和电话，并展示、复制口令码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2196A43-DC4F-4483-BB1A-DBF842ACFA85}"/>
              </a:ext>
            </a:extLst>
          </p:cNvPr>
          <p:cNvSpPr>
            <a:spLocks noGrp="1"/>
          </p:cNvSpPr>
          <p:nvPr/>
        </p:nvSpPr>
        <p:spPr>
          <a:xfrm>
            <a:off x="704850" y="3292929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5CCF850-46FA-498B-BBB1-C52C72C8C944}"/>
              </a:ext>
            </a:extLst>
          </p:cNvPr>
          <p:cNvSpPr>
            <a:spLocks noGrp="1"/>
          </p:cNvSpPr>
          <p:nvPr/>
        </p:nvSpPr>
        <p:spPr>
          <a:xfrm>
            <a:off x="971550" y="3273879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凭口令码查询排位和状态；排队中可确认撤销，交易中禁撤销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B484FF18-3CCD-4F85-8C37-1D5C22EDB81F}"/>
              </a:ext>
            </a:extLst>
          </p:cNvPr>
          <p:cNvSpPr>
            <a:spLocks noGrp="1"/>
          </p:cNvSpPr>
          <p:nvPr/>
        </p:nvSpPr>
        <p:spPr>
          <a:xfrm>
            <a:off x="5924550" y="1473654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417358-6644-4382-9760-D22A22A0E5F0}"/>
              </a:ext>
            </a:extLst>
          </p:cNvPr>
          <p:cNvSpPr>
            <a:spLocks noGrp="1"/>
          </p:cNvSpPr>
          <p:nvPr/>
        </p:nvSpPr>
        <p:spPr>
          <a:xfrm>
            <a:off x="6153150" y="1397454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联调与呈现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09CB47A-094E-483B-9D63-364A8EE4CC26}"/>
              </a:ext>
            </a:extLst>
          </p:cNvPr>
          <p:cNvSpPr>
            <a:spLocks noGrp="1"/>
          </p:cNvSpPr>
          <p:nvPr/>
        </p:nvSpPr>
        <p:spPr>
          <a:xfrm>
            <a:off x="6172200" y="1997529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C89965-6271-43DD-804B-55BE9A4C4112}"/>
              </a:ext>
            </a:extLst>
          </p:cNvPr>
          <p:cNvSpPr>
            <a:spLocks noGrp="1"/>
          </p:cNvSpPr>
          <p:nvPr/>
        </p:nvSpPr>
        <p:spPr>
          <a:xfrm>
            <a:off x="6438900" y="1978479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封装买家端接口调用，连接商品、意向、查询和撤销功能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69D846A-769A-4A29-AC2E-FDE635869846}"/>
              </a:ext>
            </a:extLst>
          </p:cNvPr>
          <p:cNvSpPr>
            <a:spLocks noGrp="1"/>
          </p:cNvSpPr>
          <p:nvPr/>
        </p:nvSpPr>
        <p:spPr>
          <a:xfrm>
            <a:off x="6172200" y="2645229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7B441BF-55F0-4F2D-ADF3-DD1E83130BF3}"/>
              </a:ext>
            </a:extLst>
          </p:cNvPr>
          <p:cNvSpPr>
            <a:spLocks noGrp="1"/>
          </p:cNvSpPr>
          <p:nvPr/>
        </p:nvSpPr>
        <p:spPr>
          <a:xfrm>
            <a:off x="6438900" y="2626179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加入输入校验、错误提示与响应式布局，便于电脑和手机浏览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9E2FF60-E184-4DC9-816F-A7DD24AB2DF3}"/>
              </a:ext>
            </a:extLst>
          </p:cNvPr>
          <p:cNvSpPr>
            <a:spLocks noGrp="1"/>
          </p:cNvSpPr>
          <p:nvPr/>
        </p:nvSpPr>
        <p:spPr>
          <a:xfrm>
            <a:off x="6172200" y="3292929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F19E45B-9CE3-4273-9B26-46284F0C886E}"/>
              </a:ext>
            </a:extLst>
          </p:cNvPr>
          <p:cNvSpPr>
            <a:spLocks noGrp="1"/>
          </p:cNvSpPr>
          <p:nvPr/>
        </p:nvSpPr>
        <p:spPr>
          <a:xfrm>
            <a:off x="6438900" y="3273879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主要成果物为买家商品页面源码及相关前端配置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63016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879904B-0A4F-5C31-DAC2-E1071CB8A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638"/>
            <a:ext cx="12192000" cy="599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170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9417315D-9D83-48A9-8256-52910EBFADEC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前端开发、需求协作 · T1 / T3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84793E4-F8E1-4FD6-913F-C9620AD97482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刘云炎：卖家端与公共组件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E556D8D-0FEA-4B69-9BA2-5269C29D9C62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0"/>
          </a:xfrm>
          <a:prstGeom prst="line">
            <a:avLst/>
          </a:prstGeom>
          <a:noFill/>
          <a:ln w="19050">
            <a:solidFill>
              <a:srgbClr val="637B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FF8291-C8EB-4DF5-8F3B-1644AF07BB7C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在线购物系统 · 第 1 次阶段性评审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814AA3-98FC-487F-B865-85523ED0E600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459C29E1-BE6A-4F6D-AD0D-7172CACC6D0C}"/>
              </a:ext>
            </a:extLst>
          </p:cNvPr>
          <p:cNvSpPr>
            <a:spLocks noGrp="1"/>
          </p:cNvSpPr>
          <p:nvPr/>
        </p:nvSpPr>
        <p:spPr>
          <a:xfrm>
            <a:off x="457200" y="1571625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955F29-172D-43B4-950F-D5B0060CB484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卖家工作台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5AD23C-4092-407B-8806-CF393EA6EC89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E8CE9C-F278-4B6E-B404-4FFEBF172D49}"/>
              </a:ext>
            </a:extLst>
          </p:cNvPr>
          <p:cNvSpPr>
            <a:spLocks noGrp="1"/>
          </p:cNvSpPr>
          <p:nvPr/>
        </p:nvSpPr>
        <p:spPr>
          <a:xfrm>
            <a:off x="971550" y="20764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登录表单支持校验、加载状态与错误提示。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366947B-A061-44A4-B485-A6B8CB519776}"/>
              </a:ext>
            </a:extLst>
          </p:cNvPr>
          <p:cNvSpPr>
            <a:spLocks noGrp="1"/>
          </p:cNvSpPr>
          <p:nvPr/>
        </p:nvSpPr>
        <p:spPr>
          <a:xfrm>
            <a:off x="704850" y="27432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AF2F548-0A25-440C-BC15-E34AE5CFB063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后台以侧边菜单组织商品管理、购买意向与概览。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64DFC9-CA5B-4051-8657-724D2EA7649E}"/>
              </a:ext>
            </a:extLst>
          </p:cNvPr>
          <p:cNvSpPr>
            <a:spLocks noGrp="1"/>
          </p:cNvSpPr>
          <p:nvPr/>
        </p:nvSpPr>
        <p:spPr>
          <a:xfrm>
            <a:off x="704850" y="33909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FAA406-BB26-4A8E-B96D-1F9D9011BF36}"/>
              </a:ext>
            </a:extLst>
          </p:cNvPr>
          <p:cNvSpPr>
            <a:spLocks noGrp="1"/>
          </p:cNvSpPr>
          <p:nvPr/>
        </p:nvSpPr>
        <p:spPr>
          <a:xfrm>
            <a:off x="971550" y="33718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支持商品发布编辑下架、队列处理及交易结果登记。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E630E70D-5B17-4526-B1B2-9324729582BD}"/>
              </a:ext>
            </a:extLst>
          </p:cNvPr>
          <p:cNvSpPr>
            <a:spLocks noGrp="1"/>
          </p:cNvSpPr>
          <p:nvPr/>
        </p:nvSpPr>
        <p:spPr>
          <a:xfrm>
            <a:off x="5924550" y="1571625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09D3430-DBB9-4B72-9A85-448E0270944F}"/>
              </a:ext>
            </a:extLst>
          </p:cNvPr>
          <p:cNvSpPr>
            <a:spLocks noGrp="1"/>
          </p:cNvSpPr>
          <p:nvPr/>
        </p:nvSpPr>
        <p:spPr>
          <a:xfrm>
            <a:off x="6153150" y="1495425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复用与需求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F3627A1-AA7F-49CB-9D6B-FA8E8491EFCC}"/>
              </a:ext>
            </a:extLst>
          </p:cNvPr>
          <p:cNvSpPr>
            <a:spLocks noGrp="1"/>
          </p:cNvSpPr>
          <p:nvPr/>
        </p:nvSpPr>
        <p:spPr>
          <a:xfrm>
            <a:off x="6172200" y="20955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DE9EE30-C187-489B-825C-F75FA4A33304}"/>
              </a:ext>
            </a:extLst>
          </p:cNvPr>
          <p:cNvSpPr>
            <a:spLocks noGrp="1"/>
          </p:cNvSpPr>
          <p:nvPr/>
        </p:nvSpPr>
        <p:spPr>
          <a:xfrm>
            <a:off x="6438900" y="20764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整理卡片、标题、状态、图片和空状态等公共组件。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C7809B5-9CFB-495A-8AB9-A037EEE53B19}"/>
              </a:ext>
            </a:extLst>
          </p:cNvPr>
          <p:cNvSpPr>
            <a:spLocks noGrp="1"/>
          </p:cNvSpPr>
          <p:nvPr/>
        </p:nvSpPr>
        <p:spPr>
          <a:xfrm>
            <a:off x="6438900" y="27241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endParaRPr sz="1425" b="0" dirty="0">
              <a:solidFill>
                <a:srgbClr val="2732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AACFC0D-8F05-458A-87D3-DA3F299501F8}"/>
              </a:ext>
            </a:extLst>
          </p:cNvPr>
          <p:cNvSpPr>
            <a:spLocks noGrp="1"/>
          </p:cNvSpPr>
          <p:nvPr/>
        </p:nvSpPr>
        <p:spPr>
          <a:xfrm>
            <a:off x="6172200" y="26003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82964A6-6247-47EE-808D-14DDAF62D418}"/>
              </a:ext>
            </a:extLst>
          </p:cNvPr>
          <p:cNvSpPr>
            <a:spLocks noGrp="1"/>
          </p:cNvSpPr>
          <p:nvPr/>
        </p:nvSpPr>
        <p:spPr>
          <a:xfrm>
            <a:off x="6438900" y="2581275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与麻津午共同整理总体需求和首轮验收范围。</a:t>
            </a:r>
          </a:p>
        </p:txBody>
      </p:sp>
    </p:spTree>
    <p:extLst>
      <p:ext uri="{BB962C8B-B14F-4D97-AF65-F5344CB8AC3E}">
        <p14:creationId xmlns:p14="http://schemas.microsoft.com/office/powerpoint/2010/main" val="673886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3089D62-3079-FE6A-481C-D44516959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638"/>
            <a:ext cx="12192000" cy="599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80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918074C6-C4F9-4B32-A641-9A918C5D3D6A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后端开发 · T4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60106E-DA88-429F-82C8-13C102400B6E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沈姚杰：数据模型与买家接口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327EE2C7-720A-4AA2-AE0C-3A2BF7540486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0"/>
          </a:xfrm>
          <a:prstGeom prst="line">
            <a:avLst/>
          </a:prstGeom>
          <a:noFill/>
          <a:ln w="19050">
            <a:solidFill>
              <a:srgbClr val="637B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1929E70-B0C2-4F91-89AC-005E64B8772D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在线购物系统 · 第 1 次阶段性评审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D1D10CB-8C26-4BA9-B1EE-852F77D93232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9135211A-C04C-48A5-B031-41FA2A7DAAAF}"/>
              </a:ext>
            </a:extLst>
          </p:cNvPr>
          <p:cNvSpPr>
            <a:spLocks noGrp="1"/>
          </p:cNvSpPr>
          <p:nvPr/>
        </p:nvSpPr>
        <p:spPr>
          <a:xfrm>
            <a:off x="457200" y="1522639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01D7047-EB1E-47F6-A5C8-42EBAF4F4552}"/>
              </a:ext>
            </a:extLst>
          </p:cNvPr>
          <p:cNvSpPr>
            <a:spLocks noGrp="1"/>
          </p:cNvSpPr>
          <p:nvPr/>
        </p:nvSpPr>
        <p:spPr>
          <a:xfrm>
            <a:off x="685800" y="1446439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E779C6-8FBF-47A0-AE60-3D2A1E9EC62E}"/>
              </a:ext>
            </a:extLst>
          </p:cNvPr>
          <p:cNvSpPr>
            <a:spLocks noGrp="1"/>
          </p:cNvSpPr>
          <p:nvPr/>
        </p:nvSpPr>
        <p:spPr>
          <a:xfrm>
            <a:off x="704850" y="2046514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endParaRPr sz="1575" b="1" dirty="0">
              <a:solidFill>
                <a:srgbClr val="D1A2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52B6C98-FDA2-4B0A-A4E4-613BE13BBE09}"/>
              </a:ext>
            </a:extLst>
          </p:cNvPr>
          <p:cNvSpPr>
            <a:spLocks noGrp="1"/>
          </p:cNvSpPr>
          <p:nvPr/>
        </p:nvSpPr>
        <p:spPr>
          <a:xfrm>
            <a:off x="971550" y="2027464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endParaRPr sz="1425" b="0" dirty="0">
              <a:solidFill>
                <a:srgbClr val="2732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A7B8EFB-05DE-4541-82AC-A162D69E98FE}"/>
              </a:ext>
            </a:extLst>
          </p:cNvPr>
          <p:cNvSpPr>
            <a:spLocks noGrp="1"/>
          </p:cNvSpPr>
          <p:nvPr/>
        </p:nvSpPr>
        <p:spPr>
          <a:xfrm>
            <a:off x="704850" y="1921327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668EC3E-AAF8-42DC-8ACA-6AD5F26297E6}"/>
              </a:ext>
            </a:extLst>
          </p:cNvPr>
          <p:cNvSpPr>
            <a:spLocks noGrp="1"/>
          </p:cNvSpPr>
          <p:nvPr/>
        </p:nvSpPr>
        <p:spPr>
          <a:xfrm>
            <a:off x="971550" y="1902277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建立数据访问层，支持持久化和状态查询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0C9DC71-529B-49B2-BB7D-06FA7CD4207A}"/>
              </a:ext>
            </a:extLst>
          </p:cNvPr>
          <p:cNvSpPr>
            <a:spLocks noGrp="1"/>
          </p:cNvSpPr>
          <p:nvPr/>
        </p:nvSpPr>
        <p:spPr>
          <a:xfrm>
            <a:off x="704850" y="2569027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59C632-ED86-4BF4-9402-6946AF744831}"/>
              </a:ext>
            </a:extLst>
          </p:cNvPr>
          <p:cNvSpPr>
            <a:spLocks noGrp="1"/>
          </p:cNvSpPr>
          <p:nvPr/>
        </p:nvSpPr>
        <p:spPr>
          <a:xfrm>
            <a:off x="971550" y="2549977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425" dirty="0">
                <a:solidFill>
                  <a:srgbClr val="273241"/>
                </a:solidFill>
                <a:latin typeface="Microsoft YaHei"/>
              </a:rPr>
              <a:t>购买意向保存买家姓名、电话、口令码和排队时间，支持状态查询与队列排序。</a:t>
            </a:r>
            <a:endParaRPr sz="1425" b="0" dirty="0">
              <a:solidFill>
                <a:srgbClr val="27324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D9206683-6A35-4B21-BE5A-60E5A25050C4}"/>
              </a:ext>
            </a:extLst>
          </p:cNvPr>
          <p:cNvSpPr>
            <a:spLocks noGrp="1"/>
          </p:cNvSpPr>
          <p:nvPr/>
        </p:nvSpPr>
        <p:spPr>
          <a:xfrm>
            <a:off x="5924550" y="1522639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E487F1-9E4F-4BB4-BC6F-E3CB0F4F92A6}"/>
              </a:ext>
            </a:extLst>
          </p:cNvPr>
          <p:cNvSpPr>
            <a:spLocks noGrp="1"/>
          </p:cNvSpPr>
          <p:nvPr/>
        </p:nvSpPr>
        <p:spPr>
          <a:xfrm>
            <a:off x="6153150" y="1446439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买家接口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9E0DFF-42E5-4F25-9E9E-E7EC98BEDE93}"/>
              </a:ext>
            </a:extLst>
          </p:cNvPr>
          <p:cNvSpPr>
            <a:spLocks noGrp="1"/>
          </p:cNvSpPr>
          <p:nvPr/>
        </p:nvSpPr>
        <p:spPr>
          <a:xfrm>
            <a:off x="6172200" y="2046514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8BF3109-283C-4B3B-AB70-6A235C7715DE}"/>
              </a:ext>
            </a:extLst>
          </p:cNvPr>
          <p:cNvSpPr>
            <a:spLocks noGrp="1"/>
          </p:cNvSpPr>
          <p:nvPr/>
        </p:nvSpPr>
        <p:spPr>
          <a:xfrm>
            <a:off x="6438900" y="2027464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提供商品查看、提交意向、口令查询和撤销接口。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B0FF31C-EBAC-4A90-919E-CCCCD91CD6EE}"/>
              </a:ext>
            </a:extLst>
          </p:cNvPr>
          <p:cNvSpPr>
            <a:spLocks noGrp="1"/>
          </p:cNvSpPr>
          <p:nvPr/>
        </p:nvSpPr>
        <p:spPr>
          <a:xfrm>
            <a:off x="6172200" y="2694214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007FD4-A715-4E01-9915-CC34957B7007}"/>
              </a:ext>
            </a:extLst>
          </p:cNvPr>
          <p:cNvSpPr>
            <a:spLocks noGrp="1"/>
          </p:cNvSpPr>
          <p:nvPr/>
        </p:nvSpPr>
        <p:spPr>
          <a:xfrm>
            <a:off x="6438900" y="2675164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使用请求与响应模型约定前后端交换的数据结构。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3F215E1-1469-49AB-9EBE-602A8875BD7C}"/>
              </a:ext>
            </a:extLst>
          </p:cNvPr>
          <p:cNvSpPr>
            <a:spLocks noGrp="1"/>
          </p:cNvSpPr>
          <p:nvPr/>
        </p:nvSpPr>
        <p:spPr>
          <a:xfrm>
            <a:off x="6172200" y="3341914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4DC168C-CF95-4E6F-893E-F58F2BD5C6FF}"/>
              </a:ext>
            </a:extLst>
          </p:cNvPr>
          <p:cNvSpPr>
            <a:spLocks noGrp="1"/>
          </p:cNvSpPr>
          <p:nvPr/>
        </p:nvSpPr>
        <p:spPr>
          <a:xfrm>
            <a:off x="6438900" y="3322864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与买家前端对接，并为并发场景配置必要的数据锁。</a:t>
            </a:r>
          </a:p>
        </p:txBody>
      </p:sp>
    </p:spTree>
    <p:extLst>
      <p:ext uri="{BB962C8B-B14F-4D97-AF65-F5344CB8AC3E}">
        <p14:creationId xmlns:p14="http://schemas.microsoft.com/office/powerpoint/2010/main" val="2095666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50A341D7-F375-43EF-BA78-3CE62277C3AB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后端开发 · T5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0105F5-B318-410A-843C-B9728A8C6E8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章曦闵：卖家接口与交易规则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13A371A-1090-4D6A-98AD-5A2C416AD1DB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0"/>
          </a:xfrm>
          <a:prstGeom prst="line">
            <a:avLst/>
          </a:prstGeom>
          <a:noFill/>
          <a:ln w="19050">
            <a:solidFill>
              <a:srgbClr val="637B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C68E3A-461F-4E2A-80D5-9C8B979FE833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在线购物系统 · 第 1 次阶段性评审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210C10-74D8-4F17-B546-B003CD3516A8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328A905E-5DA6-42CB-8F6F-005FB82F91C4}"/>
              </a:ext>
            </a:extLst>
          </p:cNvPr>
          <p:cNvSpPr>
            <a:spLocks noGrp="1"/>
          </p:cNvSpPr>
          <p:nvPr/>
        </p:nvSpPr>
        <p:spPr>
          <a:xfrm>
            <a:off x="457200" y="1473653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3C7D593-1B36-4522-B309-E4CDCF5E5C60}"/>
              </a:ext>
            </a:extLst>
          </p:cNvPr>
          <p:cNvSpPr>
            <a:spLocks noGrp="1"/>
          </p:cNvSpPr>
          <p:nvPr/>
        </p:nvSpPr>
        <p:spPr>
          <a:xfrm>
            <a:off x="685800" y="1397453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卖家业务接口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0C9683-9560-4A21-AC09-5A3ED1AF3C64}"/>
              </a:ext>
            </a:extLst>
          </p:cNvPr>
          <p:cNvSpPr>
            <a:spLocks noGrp="1"/>
          </p:cNvSpPr>
          <p:nvPr/>
        </p:nvSpPr>
        <p:spPr>
          <a:xfrm>
            <a:off x="704850" y="1997528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62C7375-3843-48C3-AA54-E1FA54688B7C}"/>
              </a:ext>
            </a:extLst>
          </p:cNvPr>
          <p:cNvSpPr>
            <a:spLocks noGrp="1"/>
          </p:cNvSpPr>
          <p:nvPr/>
        </p:nvSpPr>
        <p:spPr>
          <a:xfrm>
            <a:off x="971550" y="1978478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实现卖家登录、退出及后台会话校验。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016EAF-9D43-43E2-9F70-BF2FCFA214E9}"/>
              </a:ext>
            </a:extLst>
          </p:cNvPr>
          <p:cNvSpPr>
            <a:spLocks noGrp="1"/>
          </p:cNvSpPr>
          <p:nvPr/>
        </p:nvSpPr>
        <p:spPr>
          <a:xfrm>
            <a:off x="704850" y="2645228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D94566-5A03-4ABA-B688-5A36F019AAAC}"/>
              </a:ext>
            </a:extLst>
          </p:cNvPr>
          <p:cNvSpPr>
            <a:spLocks noGrp="1"/>
          </p:cNvSpPr>
          <p:nvPr/>
        </p:nvSpPr>
        <p:spPr>
          <a:xfrm>
            <a:off x="971550" y="2626178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实现商品发布、编辑、图片处理与主动下架。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B6BEF2-72A3-49B1-AC83-7AA6A0CF7811}"/>
              </a:ext>
            </a:extLst>
          </p:cNvPr>
          <p:cNvSpPr>
            <a:spLocks noGrp="1"/>
          </p:cNvSpPr>
          <p:nvPr/>
        </p:nvSpPr>
        <p:spPr>
          <a:xfrm>
            <a:off x="704850" y="3292928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B207769-03B8-40BA-BD98-314A2A064D3C}"/>
              </a:ext>
            </a:extLst>
          </p:cNvPr>
          <p:cNvSpPr>
            <a:spLocks noGrp="1"/>
          </p:cNvSpPr>
          <p:nvPr/>
        </p:nvSpPr>
        <p:spPr>
          <a:xfrm>
            <a:off x="971550" y="3273878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提供队列查看、作废、移至队尾及交易结果登记。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36C43BE3-BFBD-44E4-8670-3F182682B3DE}"/>
              </a:ext>
            </a:extLst>
          </p:cNvPr>
          <p:cNvSpPr>
            <a:spLocks noGrp="1"/>
          </p:cNvSpPr>
          <p:nvPr/>
        </p:nvSpPr>
        <p:spPr>
          <a:xfrm>
            <a:off x="5924550" y="1473653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630204A-E707-490C-BA48-E469AB4706D3}"/>
              </a:ext>
            </a:extLst>
          </p:cNvPr>
          <p:cNvSpPr>
            <a:spLocks noGrp="1"/>
          </p:cNvSpPr>
          <p:nvPr/>
        </p:nvSpPr>
        <p:spPr>
          <a:xfrm>
            <a:off x="6153150" y="1397453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队列与交易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A5BB1E4-27B2-4DFB-A5C5-29A28106BCD6}"/>
              </a:ext>
            </a:extLst>
          </p:cNvPr>
          <p:cNvSpPr>
            <a:spLocks noGrp="1"/>
          </p:cNvSpPr>
          <p:nvPr/>
        </p:nvSpPr>
        <p:spPr>
          <a:xfrm>
            <a:off x="6172200" y="1997528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299BF90-DBAB-41BF-8410-DB2EF43C3521}"/>
              </a:ext>
            </a:extLst>
          </p:cNvPr>
          <p:cNvSpPr>
            <a:spLocks noGrp="1"/>
          </p:cNvSpPr>
          <p:nvPr/>
        </p:nvSpPr>
        <p:spPr>
          <a:xfrm>
            <a:off x="6438900" y="1978478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按提交时间排队，开始交易时自动选中队首。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3C2BAA9-C496-4178-B34E-DB3CE319F048}"/>
              </a:ext>
            </a:extLst>
          </p:cNvPr>
          <p:cNvSpPr>
            <a:spLocks noGrp="1"/>
          </p:cNvSpPr>
          <p:nvPr/>
        </p:nvSpPr>
        <p:spPr>
          <a:xfrm>
            <a:off x="6172200" y="2645228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2F7AE37-64DD-4CBA-AD10-E9BDD42FA1A2}"/>
              </a:ext>
            </a:extLst>
          </p:cNvPr>
          <p:cNvSpPr>
            <a:spLocks noGrp="1"/>
          </p:cNvSpPr>
          <p:nvPr/>
        </p:nvSpPr>
        <p:spPr>
          <a:xfrm>
            <a:off x="6438900" y="2626178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交易成功下架商品；交易失败由卖家选择作废或重新排队。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D2FF0A4-B3DC-4F93-AE53-D727921F3E32}"/>
              </a:ext>
            </a:extLst>
          </p:cNvPr>
          <p:cNvSpPr>
            <a:spLocks noGrp="1"/>
          </p:cNvSpPr>
          <p:nvPr/>
        </p:nvSpPr>
        <p:spPr>
          <a:xfrm>
            <a:off x="6172200" y="3292928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BACA95D-012D-44A6-8481-1FD27B9F7B60}"/>
              </a:ext>
            </a:extLst>
          </p:cNvPr>
          <p:cNvSpPr>
            <a:spLocks noGrp="1"/>
          </p:cNvSpPr>
          <p:nvPr/>
        </p:nvSpPr>
        <p:spPr>
          <a:xfrm>
            <a:off x="6438900" y="3273878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重排保留原意向与口令码；数据库锁处理并发。</a:t>
            </a:r>
          </a:p>
        </p:txBody>
      </p:sp>
    </p:spTree>
    <p:extLst>
      <p:ext uri="{BB962C8B-B14F-4D97-AF65-F5344CB8AC3E}">
        <p14:creationId xmlns:p14="http://schemas.microsoft.com/office/powerpoint/2010/main" val="612677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45B2A3D0-8281-4172-A626-FD0BBC5220B3}"/>
              </a:ext>
            </a:extLst>
          </p:cNvPr>
          <p:cNvSpPr>
            <a:spLocks noGrp="1"/>
          </p:cNvSpPr>
          <p:nvPr/>
        </p:nvSpPr>
        <p:spPr>
          <a:xfrm>
            <a:off x="685800" y="3048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测试 · T6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9C2C65-F140-41AA-A64F-F68278555FC4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00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杨熠：测试用例与执行记录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B63737D0-BC36-48CC-87CA-600A0B88A8CD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10820400" cy="0"/>
          </a:xfrm>
          <a:prstGeom prst="line">
            <a:avLst/>
          </a:prstGeom>
          <a:noFill/>
          <a:ln w="19050">
            <a:solidFill>
              <a:srgbClr val="637BA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6FCB1C-CF52-4892-A0A3-057C0D331DA2}"/>
              </a:ext>
            </a:extLst>
          </p:cNvPr>
          <p:cNvSpPr>
            <a:spLocks noGrp="1"/>
          </p:cNvSpPr>
          <p:nvPr/>
        </p:nvSpPr>
        <p:spPr>
          <a:xfrm>
            <a:off x="685800" y="6457950"/>
            <a:ext cx="523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在线购物系统 · 第 1 次阶段性评审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F897C9-F265-4322-A848-26DC1FF7E89F}"/>
              </a:ext>
            </a:extLst>
          </p:cNvPr>
          <p:cNvSpPr>
            <a:spLocks noGrp="1"/>
          </p:cNvSpPr>
          <p:nvPr/>
        </p:nvSpPr>
        <p:spPr>
          <a:xfrm>
            <a:off x="1057275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4AAB1"/>
                </a:solidFill>
                <a:latin typeface="Microsoft YaHei"/>
                <a:ea typeface="Microsoft YaHei"/>
                <a:cs typeface="Microsoft YaHei"/>
              </a:rPr>
              <a:t>08 / 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39806B-0877-4E42-8906-93ABA81E205E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1600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135037-2AC9-4700-A1A7-D7C803F7E162}"/>
              </a:ext>
            </a:extLst>
          </p:cNvPr>
          <p:cNvSpPr>
            <a:spLocks noGrp="1"/>
          </p:cNvSpPr>
          <p:nvPr/>
        </p:nvSpPr>
        <p:spPr>
          <a:xfrm>
            <a:off x="2162175" y="17526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自动化用例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94879B-FED5-4BDC-A905-3E02D67CD6DC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3381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后端集成测试 T01–T10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06E551-635B-46B9-A702-463BF2922692}"/>
              </a:ext>
            </a:extLst>
          </p:cNvPr>
          <p:cNvSpPr>
            <a:spLocks noGrp="1"/>
          </p:cNvSpPr>
          <p:nvPr/>
        </p:nvSpPr>
        <p:spPr>
          <a:xfrm>
            <a:off x="4381500" y="1495425"/>
            <a:ext cx="1600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770B23-E076-4385-8A49-CF1656598285}"/>
              </a:ext>
            </a:extLst>
          </p:cNvPr>
          <p:cNvSpPr>
            <a:spLocks noGrp="1"/>
          </p:cNvSpPr>
          <p:nvPr/>
        </p:nvSpPr>
        <p:spPr>
          <a:xfrm>
            <a:off x="5857875" y="17526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人工检查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6EDE8CA-0F9B-4AFD-A127-0D4531A657D0}"/>
              </a:ext>
            </a:extLst>
          </p:cNvPr>
          <p:cNvSpPr>
            <a:spLocks noGrp="1"/>
          </p:cNvSpPr>
          <p:nvPr/>
        </p:nvSpPr>
        <p:spPr>
          <a:xfrm>
            <a:off x="4381500" y="2533650"/>
            <a:ext cx="3381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dirty="0" err="1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前端操作</a:t>
            </a:r>
            <a:r>
              <a:rPr sz="1125" b="0" dirty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 U01–U07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D2954AB-D457-4877-A822-B6EDA24F02EB}"/>
              </a:ext>
            </a:extLst>
          </p:cNvPr>
          <p:cNvSpPr>
            <a:spLocks noGrp="1"/>
          </p:cNvSpPr>
          <p:nvPr/>
        </p:nvSpPr>
        <p:spPr>
          <a:xfrm>
            <a:off x="8077200" y="1495425"/>
            <a:ext cx="16002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637BA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BAB8D3-B4E8-40B5-B84A-F01FACD1D955}"/>
              </a:ext>
            </a:extLst>
          </p:cNvPr>
          <p:cNvSpPr>
            <a:spLocks noGrp="1"/>
          </p:cNvSpPr>
          <p:nvPr/>
        </p:nvSpPr>
        <p:spPr>
          <a:xfrm>
            <a:off x="9553575" y="1752600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测试场景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8AFF5A-5C23-4D18-BC91-B4C982002183}"/>
              </a:ext>
            </a:extLst>
          </p:cNvPr>
          <p:cNvSpPr>
            <a:spLocks noGrp="1"/>
          </p:cNvSpPr>
          <p:nvPr/>
        </p:nvSpPr>
        <p:spPr>
          <a:xfrm>
            <a:off x="8077200" y="2533650"/>
            <a:ext cx="3381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125" b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125" b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8717D"/>
                </a:solidFill>
                <a:latin typeface="Microsoft YaHei"/>
                <a:ea typeface="Microsoft YaHei"/>
                <a:cs typeface="Microsoft YaHei"/>
              </a:rPr>
              <a:t>覆盖首轮基础流程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7B114426-BF1D-4575-8209-EDE69534091B}"/>
              </a:ext>
            </a:extLst>
          </p:cNvPr>
          <p:cNvSpPr>
            <a:spLocks noGrp="1"/>
          </p:cNvSpPr>
          <p:nvPr/>
        </p:nvSpPr>
        <p:spPr>
          <a:xfrm>
            <a:off x="685800" y="3190875"/>
            <a:ext cx="10820400" cy="0"/>
          </a:xfrm>
          <a:prstGeom prst="line">
            <a:avLst/>
          </a:prstGeom>
          <a:noFill/>
          <a:ln w="9525">
            <a:solidFill>
              <a:srgbClr val="D8DE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57597595-5292-41E5-812F-53C814C25A66}"/>
              </a:ext>
            </a:extLst>
          </p:cNvPr>
          <p:cNvSpPr>
            <a:spLocks noGrp="1"/>
          </p:cNvSpPr>
          <p:nvPr/>
        </p:nvSpPr>
        <p:spPr>
          <a:xfrm>
            <a:off x="723900" y="3629025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26809C-0D92-4958-996C-D66E237C32B6}"/>
              </a:ext>
            </a:extLst>
          </p:cNvPr>
          <p:cNvSpPr>
            <a:spLocks noGrp="1"/>
          </p:cNvSpPr>
          <p:nvPr/>
        </p:nvSpPr>
        <p:spPr>
          <a:xfrm>
            <a:off x="952500" y="3552825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覆盖的业务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851E88-8756-4BBC-B727-F3A82BB7E940}"/>
              </a:ext>
            </a:extLst>
          </p:cNvPr>
          <p:cNvSpPr>
            <a:spLocks noGrp="1"/>
          </p:cNvSpPr>
          <p:nvPr/>
        </p:nvSpPr>
        <p:spPr>
          <a:xfrm>
            <a:off x="971550" y="41529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1DEB39-0590-44F0-8A94-6F754C03DB38}"/>
              </a:ext>
            </a:extLst>
          </p:cNvPr>
          <p:cNvSpPr>
            <a:spLocks noGrp="1"/>
          </p:cNvSpPr>
          <p:nvPr/>
        </p:nvSpPr>
        <p:spPr>
          <a:xfrm>
            <a:off x="1238250" y="41338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检查商品发布、买家提交、口令查询与撤销等基础流程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8BF901-519E-4448-A121-3CBC921A2B00}"/>
              </a:ext>
            </a:extLst>
          </p:cNvPr>
          <p:cNvSpPr>
            <a:spLocks noGrp="1"/>
          </p:cNvSpPr>
          <p:nvPr/>
        </p:nvSpPr>
        <p:spPr>
          <a:xfrm>
            <a:off x="971550" y="48006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B9B20A1-9BDE-4BCA-8765-FF5C1D967887}"/>
              </a:ext>
            </a:extLst>
          </p:cNvPr>
          <p:cNvSpPr>
            <a:spLocks noGrp="1"/>
          </p:cNvSpPr>
          <p:nvPr/>
        </p:nvSpPr>
        <p:spPr>
          <a:xfrm>
            <a:off x="1238250" y="47815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覆盖排队顺序、交易成功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失败、作废和重新排队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7FE146B-DB76-4C24-9891-BD6FCAF3AED8}"/>
              </a:ext>
            </a:extLst>
          </p:cNvPr>
          <p:cNvSpPr>
            <a:spLocks noGrp="1"/>
          </p:cNvSpPr>
          <p:nvPr/>
        </p:nvSpPr>
        <p:spPr>
          <a:xfrm>
            <a:off x="971550" y="54483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14CB71-FE51-41B3-9307-8A9A4A236A13}"/>
              </a:ext>
            </a:extLst>
          </p:cNvPr>
          <p:cNvSpPr>
            <a:spLocks noGrp="1"/>
          </p:cNvSpPr>
          <p:nvPr/>
        </p:nvSpPr>
        <p:spPr>
          <a:xfrm>
            <a:off x="1238250" y="5429250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人工核查页面交互、提示、权限与响应情况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D0270386-AD1A-418D-B4A6-96FBBC19770F}"/>
              </a:ext>
            </a:extLst>
          </p:cNvPr>
          <p:cNvSpPr>
            <a:spLocks noGrp="1"/>
          </p:cNvSpPr>
          <p:nvPr/>
        </p:nvSpPr>
        <p:spPr>
          <a:xfrm>
            <a:off x="6191250" y="3629025"/>
            <a:ext cx="0" cy="2324100"/>
          </a:xfrm>
          <a:prstGeom prst="line">
            <a:avLst/>
          </a:prstGeom>
          <a:noFill/>
          <a:ln w="38100">
            <a:solidFill>
              <a:srgbClr val="D1A27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F73F5C5-6D69-4412-A92D-73F1410E95B8}"/>
              </a:ext>
            </a:extLst>
          </p:cNvPr>
          <p:cNvSpPr>
            <a:spLocks noGrp="1"/>
          </p:cNvSpPr>
          <p:nvPr/>
        </p:nvSpPr>
        <p:spPr>
          <a:xfrm>
            <a:off x="6419850" y="3552825"/>
            <a:ext cx="48006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执行与成果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0945CB-4F6A-4279-BCC5-60A0C9C59B9F}"/>
              </a:ext>
            </a:extLst>
          </p:cNvPr>
          <p:cNvSpPr>
            <a:spLocks noGrp="1"/>
          </p:cNvSpPr>
          <p:nvPr/>
        </p:nvSpPr>
        <p:spPr>
          <a:xfrm>
            <a:off x="6438900" y="41529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endParaRPr sz="1575" b="1" dirty="0">
              <a:solidFill>
                <a:srgbClr val="D1A27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A94B922-F3D1-4043-8734-8733CBC6DB1B}"/>
              </a:ext>
            </a:extLst>
          </p:cNvPr>
          <p:cNvSpPr>
            <a:spLocks noGrp="1"/>
          </p:cNvSpPr>
          <p:nvPr/>
        </p:nvSpPr>
        <p:spPr>
          <a:xfrm>
            <a:off x="6438899" y="4029074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05C6CF1-A09D-4EE3-9FCF-8C89086F0841}"/>
              </a:ext>
            </a:extLst>
          </p:cNvPr>
          <p:cNvSpPr>
            <a:spLocks noGrp="1"/>
          </p:cNvSpPr>
          <p:nvPr/>
        </p:nvSpPr>
        <p:spPr>
          <a:xfrm>
            <a:off x="6705599" y="4010024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在 tests/测试说明.md </a:t>
            </a: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中记录用例、目的和结果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57A5853-6967-45E8-B189-4E024A9A322F}"/>
              </a:ext>
            </a:extLst>
          </p:cNvPr>
          <p:cNvSpPr>
            <a:spLocks noGrp="1"/>
          </p:cNvSpPr>
          <p:nvPr/>
        </p:nvSpPr>
        <p:spPr>
          <a:xfrm>
            <a:off x="6438899" y="4676774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1A27D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1F06D9E-5AF6-40CE-969E-4870C6CEB437}"/>
              </a:ext>
            </a:extLst>
          </p:cNvPr>
          <p:cNvSpPr>
            <a:spLocks noGrp="1"/>
          </p:cNvSpPr>
          <p:nvPr/>
        </p:nvSpPr>
        <p:spPr>
          <a:xfrm>
            <a:off x="6705599" y="4657724"/>
            <a:ext cx="4286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425" b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个人陈述记录：10 </a:t>
            </a: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项自动化及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 7 </a:t>
            </a:r>
            <a:r>
              <a:rPr sz="1425" b="0" dirty="0" err="1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项人工检查均通过</a:t>
            </a:r>
            <a:r>
              <a:rPr sz="1425" b="0" dirty="0">
                <a:solidFill>
                  <a:srgbClr val="27324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24247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438</Words>
  <Application>Microsoft Office PowerPoint</Application>
  <DocSecurity>0</DocSecurity>
  <PresentationFormat>宽屏</PresentationFormat>
  <Paragraphs>134</Paragraphs>
  <Slides>10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云炎 刘</cp:lastModifiedBy>
  <cp:revision>2</cp:revision>
  <dcterms:created xsi:type="dcterms:W3CDTF">2026-10-08T01:27:21Z</dcterms:created>
  <dcterms:modified xsi:type="dcterms:W3CDTF">2026-10-08T02:16:36Z</dcterms:modified>
</cp:coreProperties>
</file>